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365" r:id="rId2"/>
    <p:sldId id="366" r:id="rId3"/>
    <p:sldId id="362" r:id="rId4"/>
    <p:sldId id="364" r:id="rId5"/>
    <p:sldId id="375" r:id="rId6"/>
    <p:sldId id="372" r:id="rId7"/>
    <p:sldId id="267" r:id="rId8"/>
    <p:sldId id="262" r:id="rId9"/>
    <p:sldId id="369" r:id="rId10"/>
    <p:sldId id="263" r:id="rId11"/>
    <p:sldId id="261" r:id="rId12"/>
    <p:sldId id="266" r:id="rId13"/>
    <p:sldId id="270" r:id="rId14"/>
    <p:sldId id="373" r:id="rId15"/>
    <p:sldId id="264" r:id="rId16"/>
    <p:sldId id="376" r:id="rId17"/>
    <p:sldId id="370" r:id="rId18"/>
    <p:sldId id="268" r:id="rId19"/>
    <p:sldId id="377" r:id="rId20"/>
    <p:sldId id="271" r:id="rId21"/>
    <p:sldId id="371" r:id="rId22"/>
    <p:sldId id="378" r:id="rId23"/>
    <p:sldId id="374" r:id="rId24"/>
    <p:sldId id="379" r:id="rId25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72"/>
            <p14:sldId id="267"/>
            <p14:sldId id="262"/>
            <p14:sldId id="369"/>
            <p14:sldId id="263"/>
            <p14:sldId id="261"/>
            <p14:sldId id="266"/>
            <p14:sldId id="270"/>
            <p14:sldId id="373"/>
            <p14:sldId id="264"/>
            <p14:sldId id="376"/>
            <p14:sldId id="370"/>
            <p14:sldId id="268"/>
            <p14:sldId id="377"/>
            <p14:sldId id="271"/>
            <p14:sldId id="371"/>
            <p14:sldId id="378"/>
            <p14:sldId id="374"/>
            <p14:sldId id="379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Вес</c:v>
                </c:pt>
              </c:strCache>
            </c:strRef>
          </c:tx>
          <c:spPr>
            <a:solidFill>
              <a:srgbClr val="FF0053"/>
            </a:solidFill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FFFFFF"/>
                    </a:solidFill>
                    <a:latin typeface="+mn-l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Формат и город</c:v>
                </c:pt>
                <c:pt idx="1">
                  <c:v>Достижения ФСП</c:v>
                </c:pt>
                <c:pt idx="2">
                  <c:v>Результат теста</c:v>
                </c:pt>
                <c:pt idx="3">
                  <c:v>Грейд</c:v>
                </c:pt>
                <c:pt idx="4">
                  <c:v>Навыки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0.3</c:v>
                </c:pt>
                <c:pt idx="4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5D-43C2-BB66-8F287E02CB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8A83D1"/>
            </a:solidFill>
          </a:ln>
        </c:spPr>
        <c:txPr>
          <a:bodyPr/>
          <a:lstStyle/>
          <a:p>
            <a:pPr>
              <a:defRPr sz="1300">
                <a:solidFill>
                  <a:srgbClr val="FFFFFF"/>
                </a:solidFill>
                <a:latin typeface="+mn-lt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"/>
          <c:min val="0"/>
        </c:scaling>
        <c:delete val="0"/>
        <c:axPos val="b"/>
        <c:majorGridlines>
          <c:spPr>
            <a:ln w="9525">
              <a:solidFill>
                <a:srgbClr val="8A83D1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FFFFFF"/>
                </a:solidFill>
                <a:latin typeface="+mn-lt"/>
              </a:defRPr>
            </a:pPr>
            <a:endParaRPr lang="ru-RU"/>
          </a:p>
        </c:txPr>
        <c:crossAx val="-2068027336"/>
        <c:crosses val="autoZero"/>
        <c:crossBetween val="between"/>
        <c:majorUnit val="0.1"/>
      </c:valAx>
    </c:plotArea>
    <c:plotVisOnly val="1"/>
    <c:dispBlanksAs val="gap"/>
    <c:showDLblsOverMax val="1"/>
  </c:chart>
  <c:txPr>
    <a:bodyPr/>
    <a:lstStyle/>
    <a:p>
      <a:pPr>
        <a:defRPr sz="1300">
          <a:solidFill>
            <a:srgbClr val="FFFFFF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Обычный генератор</c:v>
                </c:pt>
              </c:strCache>
            </c:strRef>
          </c:tx>
          <c:spPr>
            <a:solidFill>
              <a:srgbClr val="FF0053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1C1D22"/>
                    </a:solidFill>
                    <a:latin typeface="+mn-l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Случайный порядок</c:v>
                </c:pt>
                <c:pt idx="1">
                  <c:v>BM25 по резюме</c:v>
                </c:pt>
                <c:pt idx="2">
                  <c:v>Ключевые слова резюме</c:v>
                </c:pt>
                <c:pt idx="3">
                  <c:v>Только заявленный грейд</c:v>
                </c:pt>
                <c:pt idx="4">
                  <c:v>Наш подбор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0.13500000000000001</c:v>
                </c:pt>
                <c:pt idx="1">
                  <c:v>0.30499999999999999</c:v>
                </c:pt>
                <c:pt idx="2">
                  <c:v>0.4</c:v>
                </c:pt>
                <c:pt idx="3">
                  <c:v>0.42</c:v>
                </c:pt>
                <c:pt idx="4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3-4497-93A7-4BBA3B9590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Слепой генератор</c:v>
                </c:pt>
              </c:strCache>
            </c:strRef>
          </c:tx>
          <c:spPr>
            <a:solidFill>
              <a:srgbClr val="8A83D1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1C1D22"/>
                    </a:solidFill>
                    <a:latin typeface="+mn-l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Случайный порядок</c:v>
                </c:pt>
                <c:pt idx="1">
                  <c:v>BM25 по резюме</c:v>
                </c:pt>
                <c:pt idx="2">
                  <c:v>Ключевые слова резюме</c:v>
                </c:pt>
                <c:pt idx="3">
                  <c:v>Только заявленный грейд</c:v>
                </c:pt>
                <c:pt idx="4">
                  <c:v>Наш подбор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0.115</c:v>
                </c:pt>
                <c:pt idx="1">
                  <c:v>0.19500000000000001</c:v>
                </c:pt>
                <c:pt idx="2">
                  <c:v>0.27</c:v>
                </c:pt>
                <c:pt idx="3">
                  <c:v>0.315</c:v>
                </c:pt>
                <c:pt idx="4">
                  <c:v>0.495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03-4497-93A7-4BBA3B9590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D9D3E6"/>
            </a:solidFill>
          </a:ln>
        </c:spPr>
        <c:txPr>
          <a:bodyPr/>
          <a:lstStyle/>
          <a:p>
            <a:pPr>
              <a:defRPr sz="1200">
                <a:solidFill>
                  <a:srgbClr val="1C1D22"/>
                </a:solidFill>
                <a:latin typeface="+mn-lt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0"/>
        <c:axPos val="b"/>
        <c:majorGridlines>
          <c:spPr>
            <a:ln w="9525">
              <a:solidFill>
                <a:srgbClr val="D9D3E6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1C1D22"/>
                </a:solidFill>
                <a:latin typeface="+mn-lt"/>
              </a:defRPr>
            </a:pPr>
            <a:endParaRPr lang="ru-RU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1C1D22"/>
              </a:solidFill>
              <a:latin typeface="+mn-lt"/>
            </a:defRPr>
          </a:pPr>
          <a:endParaRPr lang="ru-RU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1C1D22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Единый набор заданий</c:v>
                </c:pt>
              </c:strCache>
            </c:strRef>
          </c:tx>
          <c:spPr>
            <a:ln w="31750">
              <a:solidFill>
                <a:srgbClr val="8A83D1"/>
              </a:solidFill>
            </a:ln>
          </c:spPr>
          <c:marker>
            <c:symbol val="circle"/>
            <c:size val="8"/>
            <c:spPr>
              <a:solidFill>
                <a:srgbClr val="8A83D1"/>
              </a:solidFill>
              <a:ln>
                <a:solidFill>
                  <a:srgbClr val="8A83D1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8A83D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0%</c:v>
                </c:pt>
                <c:pt idx="1">
                  <c:v>25%</c:v>
                </c:pt>
                <c:pt idx="2">
                  <c:v>50%</c:v>
                </c:pt>
                <c:pt idx="3">
                  <c:v>75%</c:v>
                </c:pt>
                <c:pt idx="4">
                  <c:v>100%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0.13</c:v>
                </c:pt>
                <c:pt idx="1">
                  <c:v>0.65</c:v>
                </c:pt>
                <c:pt idx="2">
                  <c:v>0.91700000000000004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21-443D-92CA-48F38A8396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Семейства (наша механика)</c:v>
                </c:pt>
              </c:strCache>
            </c:strRef>
          </c:tx>
          <c:spPr>
            <a:ln w="44450">
              <a:solidFill>
                <a:srgbClr val="FF0053"/>
              </a:solidFill>
            </a:ln>
          </c:spPr>
          <c:marker>
            <c:symbol val="circle"/>
            <c:size val="8"/>
            <c:spPr>
              <a:solidFill>
                <a:srgbClr val="FF0053"/>
              </a:solidFill>
              <a:ln>
                <a:solidFill>
                  <a:srgbClr val="FF0053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FF0053"/>
                    </a:solidFill>
                  </a:defRPr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0%</c:v>
                </c:pt>
                <c:pt idx="1">
                  <c:v>25%</c:v>
                </c:pt>
                <c:pt idx="2">
                  <c:v>50%</c:v>
                </c:pt>
                <c:pt idx="3">
                  <c:v>75%</c:v>
                </c:pt>
                <c:pt idx="4">
                  <c:v>100%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0.113</c:v>
                </c:pt>
                <c:pt idx="1">
                  <c:v>0.12</c:v>
                </c:pt>
                <c:pt idx="2">
                  <c:v>0.11</c:v>
                </c:pt>
                <c:pt idx="3">
                  <c:v>9.2999999999999999E-2</c:v>
                </c:pt>
                <c:pt idx="4">
                  <c:v>7.2999999999999995E-2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21-443D-92CA-48F38A839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D9D3E6"/>
            </a:solidFill>
          </a:ln>
        </c:spPr>
        <c:txPr>
          <a:bodyPr/>
          <a:lstStyle/>
          <a:p>
            <a:pPr>
              <a:defRPr sz="1200">
                <a:solidFill>
                  <a:srgbClr val="1C1D22"/>
                </a:solidFill>
                <a:latin typeface="+mn-lt"/>
              </a:defRPr>
            </a:pPr>
            <a:endParaRPr lang="ru-RU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9D3E6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1C1D22"/>
                </a:solidFill>
                <a:latin typeface="+mn-lt"/>
              </a:defRPr>
            </a:pPr>
            <a:endParaRPr lang="ru-RU"/>
          </a:p>
        </c:txPr>
        <c:crossAx val="2118791784"/>
        <c:crosses val="autoZero"/>
        <c:crossBetween val="between"/>
        <c:majorUnit val="0.25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1C1D22"/>
              </a:solidFill>
            </a:defRPr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1C1D22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11.10.2026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11.10.2026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11.10.2026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11.10.2026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11.10.2026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11.10.2026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/>
              <a:t>НЕКТАРУМ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Цифровая платформа-агрегатор ИТ-вакансий </a:t>
            </a:r>
            <a:br>
              <a:rPr lang="ru-RU" dirty="0"/>
            </a:br>
            <a:r>
              <a:rPr lang="ru-RU" dirty="0"/>
              <a:t>с 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21">
            <a:extLst>
              <a:ext uri="{FF2B5EF4-FFF2-40B4-BE49-F238E27FC236}">
                <a16:creationId xmlns:a16="http://schemas.microsoft.com/office/drawing/2014/main" id="{6D26AF70-E465-2DEF-3BA1-BCFE18E69B6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3472" b="31734"/>
          <a:stretch>
            <a:fillRect/>
          </a:stretch>
        </p:blipFill>
        <p:spPr>
          <a:xfrm>
            <a:off x="769740" y="0"/>
            <a:ext cx="4541487" cy="320782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400">
                <a:solidFill>
                  <a:schemeClr val="tx1"/>
                </a:solidFill>
              </a:rPr>
              <a:t>У каждого кандидата свои варианты заданий той же сложности, и слитые ответы к ним не подходят. Вилку и причину приглашения кандидат видит еще до разговора.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 b="0">
                <a:solidFill>
                  <a:schemeClr val="tx1"/>
                </a:solidFill>
              </a:rPr>
              <a:t>Отченашенко Александр Иванович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 b="0">
                <a:solidFill>
                  <a:schemeClr val="tx1"/>
                </a:solidFill>
              </a:rPr>
              <a:t>3 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r>
              <a:rPr lang="ru-RU" b="0">
                <a:solidFill>
                  <a:schemeClr val="tx1"/>
                </a:solidFill>
              </a:rPr>
              <a:t>познакомились в Самаре на форуме Я-Профессионал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Город и регион: </a:t>
            </a:r>
            <a:r>
              <a:rPr lang="ru-RU" b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 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>
                <a:solidFill>
                  <a:srgbClr val="520977"/>
                </a:solidFill>
              </a:rPr>
              <a:t>ФСП КАРЬЕРА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400">
                <a:solidFill>
                  <a:schemeClr val="tx1"/>
                </a:solidFill>
              </a:rPr>
              <a:t>Кандидат подтверждает грейд тестом и попадает в категорию. Компания получает подборку с объяснением и сама приглашает человека, сразу называя вилку.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Капитан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@by_alot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+7 950 753-80-02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НИЯУ МИФИ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>
                <a:solidFill>
                  <a:schemeClr val="accent5"/>
                </a:solidFill>
              </a:rPr>
              <a:t>Александр Отченашенко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Фулстек-разработчик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@cyb3rhack3r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>
                <a:solidFill>
                  <a:schemeClr val="accent5"/>
                </a:solidFill>
              </a:rPr>
              <a:t>Илья Афоничев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ML-инженер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@prvchdl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>
                <a:solidFill>
                  <a:schemeClr val="accent5"/>
                </a:solidFill>
              </a:rPr>
              <a:t>Константин Мартынов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/>
              <a:t>НЕКТАРУМ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4"/>
          <a:srcRect t="4931" b="4931"/>
          <a:stretch>
            <a:fillRect/>
          </a:stretch>
        </p:blipFill>
        <p:spPr>
          <a:xfrm>
            <a:off x="2886467" y="1826554"/>
            <a:ext cx="1722566" cy="1542401"/>
          </a:xfrm>
          <a:prstGeom prst="rect">
            <a:avLst/>
          </a:prstGeom>
        </p:spPr>
      </p:pic>
      <p:pic>
        <p:nvPicPr>
          <p:cNvPr id="66" name="Picture 65" descr="image.jpg"/>
          <p:cNvPicPr>
            <a:picLocks noChangeAspect="1"/>
          </p:cNvPicPr>
          <p:nvPr/>
        </p:nvPicPr>
        <p:blipFill>
          <a:blip r:embed="rId5"/>
          <a:srcRect t="1533" b="31034"/>
          <a:stretch>
            <a:fillRect/>
          </a:stretch>
        </p:blipFill>
        <p:spPr>
          <a:xfrm>
            <a:off x="5191784" y="1809238"/>
            <a:ext cx="1722567" cy="1559717"/>
          </a:xfrm>
          <a:prstGeom prst="rect">
            <a:avLst/>
          </a:prstGeom>
        </p:spPr>
      </p:pic>
      <p:pic>
        <p:nvPicPr>
          <p:cNvPr id="67" name="Picture 66" descr="image.jpg"/>
          <p:cNvPicPr>
            <a:picLocks noChangeAspect="1"/>
          </p:cNvPicPr>
          <p:nvPr/>
        </p:nvPicPr>
        <p:blipFill>
          <a:blip r:embed="rId6"/>
          <a:srcRect t="22500" b="22500"/>
          <a:stretch>
            <a:fillRect/>
          </a:stretch>
        </p:blipFill>
        <p:spPr>
          <a:xfrm>
            <a:off x="7520208" y="1809238"/>
            <a:ext cx="1722567" cy="155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/>
              <a:t>О КОМАНДЕ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1033272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>
                <a:solidFill>
                  <a:schemeClr val="tx1"/>
                </a:solidFill>
              </a:rPr>
              <a:t>Участвуем в хакатонах ЛЦТ с 2023 года. Делали детектор вооруженных людей, детектор БПЛА, распознавание заболеваний по КТ. Параллельно развиваем свой стартап, умный дерматоскоп с искусственным интеллектом.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1033272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400" b="1">
                <a:solidFill>
                  <a:schemeClr val="tx1"/>
                </a:solidFill>
              </a:rPr>
              <a:t>У порога грейда тест близок к монетке. </a:t>
            </a:r>
            <a:r>
              <a:rPr lang="ru-RU" sz="1400">
                <a:solidFill>
                  <a:schemeClr val="tx1"/>
                </a:solidFill>
              </a:rPr>
              <a:t>Чтобы повтор совпадал в 85% случаев, нужно 45-60 заданий. Мы добавляем задания только у порога (+9 п.п. стабильности) и показываем кандидату, насколько устойчив его результат.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400" b="1">
                <a:solidFill>
                  <a:schemeClr val="tx1"/>
                </a:solidFill>
              </a:rPr>
              <a:t>Первая версия скора проигрывала подбору без теста. </a:t>
            </a:r>
            <a:r>
              <a:rPr lang="ru-RU" sz="1400">
                <a:solidFill>
                  <a:schemeClr val="tx1"/>
                </a:solidFill>
              </a:rPr>
              <a:t>Это поймала валидация. Теперь грейд учитываем как вероятность по Байесу, а формат работы как обязательное условие.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 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 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1033272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400">
                <a:solidFill>
                  <a:schemeClr val="tx1"/>
                </a:solidFill>
              </a:rPr>
              <a:t>Нам нравятся задачи, где результат можно проверить цифрами еще до запуска: стабильность грейда и точность подбора мы считаем на симуляции. А у ФСП уже есть реестр результатов, к которому можно подключиться.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 предложенных на 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1500">
                <a:solidFill>
                  <a:schemeClr val="tx1"/>
                </a:solidFill>
              </a:rPr>
              <a:t>Тест собирается из 78 параметризованных семейств заданий. В каждой попытке свои экземпляры, а верные ответы считает код</a:t>
            </a:r>
          </a:p>
          <a:p>
            <a:pPr>
              <a:spcAft>
                <a:spcPts val="600"/>
              </a:spcAft>
            </a:pPr>
            <a:r>
              <a:rPr lang="ru-RU" sz="1500">
                <a:solidFill>
                  <a:schemeClr val="tx1"/>
                </a:solidFill>
              </a:rPr>
              <a:t>Грейд считаем по IRT (2PL). У самого порога тест добавляет задания, а кандидат видит, насколько устойчив его результат</a:t>
            </a:r>
          </a:p>
          <a:p>
            <a:pPr>
              <a:spcAft>
                <a:spcPts val="600"/>
              </a:spcAft>
            </a:pPr>
            <a:r>
              <a:rPr lang="ru-RU" sz="1500">
                <a:solidFill>
                  <a:schemeClr val="tx1"/>
                </a:solidFill>
              </a:rPr>
              <a:t>Подборку ранжирует скор из пяти вкладов, объяснение собирается из них же, без LLM</a:t>
            </a:r>
          </a:p>
          <a:p>
            <a:pPr>
              <a:spcAft>
                <a:spcPts val="600"/>
              </a:spcAft>
            </a:pPr>
            <a:r>
              <a:rPr lang="ru-RU" sz="1500">
                <a:solidFill>
                  <a:schemeClr val="tx1"/>
                </a:solidFill>
              </a:rPr>
              <a:t>7 сервисов в Docker Compose, вход через Keycloak, ФСП ID по OIDC, OpenAPI с кодами ошибок. GPU не нужен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1500">
                <a:solidFill>
                  <a:schemeClr val="tx1"/>
                </a:solidFill>
              </a:rPr>
              <a:t>Компания сама выходит на кандидата из подборки и сразу называет вилку в рублях</a:t>
            </a:r>
          </a:p>
          <a:p>
            <a:pPr>
              <a:spcAft>
                <a:spcPts val="600"/>
              </a:spcAft>
            </a:pPr>
            <a:r>
              <a:rPr lang="ru-RU" sz="1500">
                <a:solidFill>
                  <a:schemeClr val="tx1"/>
                </a:solidFill>
              </a:rPr>
              <a:t>Кандидат видит условия и причину приглашения до разговора. Контакты открывает сам и может снова закрыть</a:t>
            </a:r>
          </a:p>
          <a:p>
            <a:pPr>
              <a:spcAft>
                <a:spcPts val="600"/>
              </a:spcAft>
            </a:pPr>
            <a:r>
              <a:rPr lang="ru-RU" sz="1500">
                <a:solidFill>
                  <a:schemeClr val="tx1"/>
                </a:solidFill>
              </a:rPr>
              <a:t>Победы и призовые места из реестра ФСП поднимают кандидата внутри его категории</a:t>
            </a:r>
          </a:p>
          <a:p>
            <a:pPr>
              <a:spcAft>
                <a:spcPts val="600"/>
              </a:spcAft>
            </a:pPr>
            <a:r>
              <a:rPr lang="ru-RU" sz="1500">
                <a:solidFill>
                  <a:schemeClr val="tx1"/>
                </a:solidFill>
              </a:rPr>
              <a:t>Для внедрения у ФСП достаточно поменять настройки ФСП ID и две функции чтения реестра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 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9144000" cy="552061"/>
          </a:xfrm>
        </p:spPr>
        <p:txBody>
          <a:bodyPr/>
          <a:lstStyle/>
          <a:p>
            <a:pPr marL="0" indent="0">
              <a:buNone/>
            </a:pPr>
            <a:r>
              <a:rPr lang="ru-RU" sz="2600"/>
              <a:t>ПО КРИТЕРИЯМ ТЗ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6928" y="1517904"/>
          <a:ext cx="11082528" cy="4608576"/>
        </p:xfrm>
        <a:graphic>
          <a:graphicData uri="http://schemas.openxmlformats.org/drawingml/2006/table">
            <a:tbl>
              <a:tblPr firstRow="1"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3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FFFFFF"/>
                          </a:solidFill>
                        </a:rPr>
                        <a:t>Критерий ТЗ</a:t>
                      </a:r>
                    </a:p>
                  </a:txBody>
                  <a:tcPr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1">
                          <a:solidFill>
                            <a:srgbClr val="FFFFFF"/>
                          </a:solidFill>
                        </a:rPr>
                        <a:t>Вес</a:t>
                      </a:r>
                    </a:p>
                  </a:txBody>
                  <a:tcPr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FFFFFF"/>
                          </a:solidFill>
                        </a:rPr>
                        <a:t>Что сделано</a:t>
                      </a:r>
                    </a:p>
                  </a:txBody>
                  <a:tcPr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1">
                          <a:solidFill>
                            <a:srgbClr val="FFFFFF"/>
                          </a:solidFill>
                        </a:rPr>
                        <a:t>Слайды</a:t>
                      </a:r>
                    </a:p>
                  </a:txBody>
                  <a:tcPr anchor="ctr">
                    <a:solidFill>
                      <a:srgbClr val="520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520977"/>
                          </a:solidFill>
                        </a:rPr>
                        <a:t>Новая механика подбора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Компания приглашает кандидата из подборки: вилка, «почему вам», кейс, встречное предложение. Каждое место в выдаче объяснено. P@5 0,68 против 0,40 у поиска по резюме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8-12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520977"/>
                          </a:solidFill>
                        </a:rPr>
                        <a:t>Тестирование и категоризация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25%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Параметризованные семейства заданий, IRT с продлением у порога. Слитые ответы не помогают пройти, детектор их замечает. При повторе решение совпадает в 77-78%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13-17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520977"/>
                          </a:solidFill>
                        </a:rPr>
                        <a:t>Удобство интерфейса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Два кабинета, демо-вход для жюри, все экраны проверили на ширине 1280 и 375 px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9, 11, 20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520977"/>
                          </a:solidFill>
                        </a:rPr>
                        <a:t>Техническая проработка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7%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7 сервисов в Docker Compose, наружу один порт, OpenAPI с кодами ошибок, работает без GPU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21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520977"/>
                          </a:solidFill>
                        </a:rPr>
                        <a:t>Полнота и документация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Весь путь кандидата из ТЗ, без истории ФСП никто не теряет в выдаче, документация в 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7, 18, 19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520977"/>
                          </a:solidFill>
                        </a:rPr>
                        <a:t>Дополнительный функционал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7%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Вакансии и отклик, кейс недели, защита от фиктивных работодателей, лента для ATS, мобильная версия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75312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Регистрация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68941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Email с подтверждением через Keycloak. Профиль вручную или из резюме в PDF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Тест и категория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68941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15 заданий за 25 минут. Категория: направление и подтвержденный грейд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Контакт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68941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Приглашение с вилкой. После принятия открываются контакты и переписка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Опрос и грейд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236204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Направление: backend, frontend или data science. Грейд кандидат выбирает сам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Подборка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236204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Компания описывает потребность и получает список кандидатов с объяснениями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21226"/>
            <a:ext cx="3661686" cy="3761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СКВОЗНОЙ СЦЕНАРИЙ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74320" y="4846320"/>
            <a:ext cx="2057400" cy="1463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 b="1">
                <a:solidFill>
                  <a:srgbClr val="1C1D22"/>
                </a:solidFill>
              </a:rPr>
              <a:t>PDF-резюме без LLM. </a:t>
            </a:r>
            <a:r>
              <a:rPr lang="ru-RU" sz="1200">
                <a:solidFill>
                  <a:srgbClr val="1C1D22"/>
                </a:solidFill>
              </a:rPr>
              <a:t>На 4 верстках контакты 100%, навыки F1 0,98-1,00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4846320"/>
            <a:ext cx="1783080" cy="1463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 b="1">
                <a:solidFill>
                  <a:srgbClr val="1C1D22"/>
                </a:solidFill>
              </a:rPr>
              <a:t>Отклик тоже есть. </a:t>
            </a:r>
            <a:r>
              <a:rPr lang="ru-RU" sz="1200">
                <a:solidFill>
                  <a:srgbClr val="1C1D22"/>
                </a:solidFill>
              </a:rPr>
              <a:t>Потребность можно опубликовать как вакансию, и кандидат откликнется сам</a:t>
            </a: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439124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18073"/>
            <a:ext cx="5460470" cy="685800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Зарплатная вилка в рублях до вычета НДФЛ обязательна в каждом приглашении и вакансии (CHECK в базе)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45440"/>
            <a:ext cx="5460470" cy="685800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В приглашении есть должность, описание, вилка, компания и способ связи. Вакансию указывать не обязательно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58490"/>
            <a:ext cx="5460470" cy="685800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Зарплатных ожиданий кандидата компания не видит. Если верх вилки ниже них, приглашение не отправится (409)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69161"/>
            <a:ext cx="5460470" cy="685800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Контакты компания видит, только когда кандидат принял приглашение или откликнулся сам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489492"/>
            <a:ext cx="5460470" cy="685800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Против спама: пока кандидат не ответил, повторно его не пригласить. У новой компании до 5 приглашений без ответа, после отказа пауза 30 дней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21226"/>
            <a:ext cx="3347684" cy="3761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ВЫХОД НА КОНТАКТ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153619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500" b="1">
                <a:solidFill>
                  <a:srgbClr val="520977"/>
                </a:solidFill>
              </a:rPr>
              <a:t>Статусы приглашения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2057400"/>
            <a:ext cx="2057400" cy="566928"/>
          </a:xfrm>
          <a:prstGeom prst="roundRect">
            <a:avLst>
              <a:gd name="adj" fmla="val 18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</a:rPr>
              <a:t>Отправлено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246120"/>
            <a:ext cx="2057400" cy="566928"/>
          </a:xfrm>
          <a:prstGeom prst="roundRect">
            <a:avLst>
              <a:gd name="adj" fmla="val 18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</a:rPr>
              <a:t>Просмотрено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434840"/>
            <a:ext cx="2057400" cy="566928"/>
          </a:xfrm>
          <a:prstGeom prst="roundRect">
            <a:avLst>
              <a:gd name="adj" fmla="val 1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lang="ru-RU" sz="1300" b="1">
                <a:solidFill>
                  <a:srgbClr val="FFFFFF"/>
                </a:solidFill>
              </a:rPr>
              <a:t>Принято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2057400"/>
            <a:ext cx="20574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lang="ru-RU" sz="1200">
                <a:solidFill>
                  <a:srgbClr val="1C1D22"/>
                </a:solidFill>
              </a:rPr>
              <a:t>Отозвано компанией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2743200"/>
            <a:ext cx="20574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lang="ru-RU" sz="1200">
                <a:solidFill>
                  <a:srgbClr val="1C1D22"/>
                </a:solidFill>
              </a:rPr>
              <a:t>Истекло: 7 дней без ответа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611880"/>
            <a:ext cx="20574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lang="ru-RU" sz="1200">
                <a:solidFill>
                  <a:srgbClr val="1C1D22"/>
                </a:solidFill>
              </a:rPr>
              <a:t>Отклонено с причиной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714500" y="2624328"/>
            <a:ext cx="0" cy="621792"/>
          </a:xfrm>
          <a:prstGeom prst="line">
            <a:avLst/>
          </a:prstGeom>
          <a:ln w="19050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714500" y="3813048"/>
            <a:ext cx="0" cy="621792"/>
          </a:xfrm>
          <a:prstGeom prst="line">
            <a:avLst/>
          </a:prstGeom>
          <a:ln w="19050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43200" y="2340864"/>
            <a:ext cx="640080" cy="0"/>
          </a:xfrm>
          <a:prstGeom prst="line">
            <a:avLst/>
          </a:prstGeom>
          <a:ln w="19050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43200" y="2510942"/>
            <a:ext cx="640080" cy="515722"/>
          </a:xfrm>
          <a:prstGeom prst="line">
            <a:avLst/>
          </a:prstGeom>
          <a:ln w="19050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743200" y="3642970"/>
            <a:ext cx="640080" cy="252374"/>
          </a:xfrm>
          <a:prstGeom prst="line">
            <a:avLst/>
          </a:prstGeom>
          <a:ln w="19050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5800" y="5138928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5B5B6E"/>
                </a:solidFill>
              </a:rPr>
              <a:t>Принятое приглашение открывает контакты и переписку только этой компании. Отклик проходит те же статусы, и обе стороны видят, на каком он этапе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rgbClr val="520977"/>
                </a:solidFill>
              </a:rPr>
              <a:t>ЧТО ВИДИТ КАНДИДАТ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1188720"/>
            <a:ext cx="5440680" cy="5120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1C1D22"/>
                </a:solidFill>
              </a:rPr>
              <a:t>Условия сразу. </a:t>
            </a:r>
            <a:r>
              <a:rPr lang="ru-RU" sz="1300">
                <a:solidFill>
                  <a:srgbClr val="1C1D22"/>
                </a:solidFill>
              </a:rPr>
              <a:t>Компания, должность и вилка в рублях видны еще до разговора</a:t>
            </a:r>
          </a:p>
          <a:p>
            <a:pPr marL="182880" indent="-182880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1C1D22"/>
                </a:solidFill>
              </a:rPr>
              <a:t>«Почему вам». </a:t>
            </a:r>
            <a:r>
              <a:rPr lang="ru-RU" sz="1300">
                <a:solidFill>
                  <a:srgbClr val="1C1D22"/>
                </a:solidFill>
              </a:rPr>
              <a:t>Совпадение на момент отправки: процент и навыки с пометками «подтвержден тестом», «заявлен» или «нет в профиле»</a:t>
            </a:r>
          </a:p>
          <a:p>
            <a:pPr marL="182880" indent="-182880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1C1D22"/>
                </a:solidFill>
              </a:rPr>
              <a:t>Кейс от компании. </a:t>
            </a:r>
            <a:r>
              <a:rPr lang="ru-RU" sz="1300">
                <a:solidFill>
                  <a:srgbClr val="1C1D22"/>
                </a:solidFill>
              </a:rPr>
              <a:t>Вопрос о том, как бы кандидат подошел к задаче. Ответ уходит вместе с принятием, и компания видит его вместе с контактами</a:t>
            </a:r>
          </a:p>
          <a:p>
            <a:pPr marL="182880" indent="-182880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1C1D22"/>
                </a:solidFill>
              </a:rPr>
              <a:t>Встречное предложение. </a:t>
            </a:r>
            <a:r>
              <a:rPr lang="ru-RU" sz="1300">
                <a:solidFill>
                  <a:srgbClr val="1C1D22"/>
                </a:solidFill>
              </a:rPr>
              <a:t>Вместо отказа можно ответить «готов при вилке от X». Компания поднимает вилку одной кнопкой, а сумму называет только кандидат</a:t>
            </a:r>
          </a:p>
          <a:p>
            <a:pPr marL="182880" indent="-182880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1C1D22"/>
                </a:solidFill>
              </a:rPr>
              <a:t>Репутация компании. </a:t>
            </a:r>
            <a:r>
              <a:rPr lang="ru-RU" sz="1300">
                <a:solidFill>
                  <a:srgbClr val="1C1D22"/>
                </a:solidFill>
              </a:rPr>
              <a:t>Считается по поведению: как часто компания пишет в первые 3 дня после принятия, сколько ждать первого сообщения и какую долю приглашений она отзывает. Видна от 5 завершенных приглашений</a:t>
            </a:r>
          </a:p>
          <a:p>
            <a:pPr marL="182880" indent="-182880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1C1D22"/>
                </a:solidFill>
              </a:rPr>
              <a:t>Ответ. </a:t>
            </a:r>
            <a:r>
              <a:rPr lang="ru-RU" sz="1300">
                <a:solidFill>
                  <a:srgbClr val="1C1D22"/>
                </a:solidFill>
              </a:rPr>
              <a:t>Принять, отклонить с причиной или пожаловаться. Позже доступ к контактам можно закрыть, тогда переписка останется только для чтения</a:t>
            </a:r>
          </a:p>
        </p:txBody>
      </p:sp>
      <p:pic>
        <p:nvPicPr>
          <p:cNvPr id="32" name="Picture 31" descr="invi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322" y="914400"/>
            <a:ext cx="4721676" cy="5349240"/>
          </a:xfrm>
          <a:prstGeom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01100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700" b="1">
                <a:solidFill>
                  <a:srgbClr val="FF0053"/>
                </a:solidFill>
              </a:rPr>
              <a:t>Пул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506927"/>
            <a:ext cx="4790314" cy="105156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Опубликованные профили нужного направления: запрошенный грейд и соседние. Кандидат без подтвержденного грейда тоже попадает в выдачу, но ниже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700" b="1">
                <a:solidFill>
                  <a:srgbClr val="FF0053"/>
                </a:solidFill>
              </a:rPr>
              <a:t>Порядок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372997"/>
            <a:ext cx="4790314" cy="105156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Сначала те, кому подходит вилка, потом формат работы, дальше по скору. Неподходящих не прячем: они ниже, и видно почему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700" b="1">
                <a:solidFill>
                  <a:srgbClr val="FF0053"/>
                </a:solidFill>
              </a:rPr>
              <a:t>Грейд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328932"/>
            <a:ext cx="4790314" cy="105156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Вероятность того, что уровень кандидата совпадает с запрошенным. Заявке верим на 60%, а любой результат теста уточняет оценку по Байесу</a:t>
            </a:r>
          </a:p>
        </p:txBody>
      </p: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21226"/>
            <a:ext cx="2919563" cy="3761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КАК РАНЖИРУЕМ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500" b="1">
                <a:solidFill>
                  <a:srgbClr val="FFFFFF"/>
                </a:solidFill>
              </a:rPr>
              <a:t>Вклад факторов в скор подбора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65760" y="1554480"/>
          <a:ext cx="5669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580644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100">
                <a:solidFill>
                  <a:srgbClr val="FFFFFF"/>
                </a:solidFill>
              </a:rPr>
              <a:t>Обязательные навыки весят 2, желательные 1. Внутри категории выше тот, у кого тест сильнее и есть результаты ФСП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4248951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11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21226"/>
            <a:ext cx="4157511" cy="3761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ОБЪЯСНЕНИЕ И ФИЛЬТРЫ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88720"/>
            <a:ext cx="6309360" cy="5212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82880" indent="-182880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1C1D22"/>
                </a:solidFill>
              </a:rPr>
              <a:t>Объяснение из вкладов. </a:t>
            </a:r>
            <a:r>
              <a:rPr lang="ru-RU" sz="1300">
                <a:solidFill>
                  <a:srgbClr val="1C1D22"/>
                </a:solidFill>
              </a:rPr>
              <a:t>Каждую строку считает тот же код, что и место в выдаче, например «Обязательные навыки: 1 из 2 (нет PostgreSQL)»</a:t>
            </a:r>
          </a:p>
          <a:p>
            <a:pPr marL="182880" indent="-182880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1C1D22"/>
                </a:solidFill>
              </a:rPr>
              <a:t>Паспорт навыков. </a:t>
            </a:r>
            <a:r>
              <a:rPr lang="ru-RU" sz="1300">
                <a:solidFill>
                  <a:srgbClr val="1C1D22"/>
                </a:solidFill>
              </a:rPr>
              <a:t>У каждого навыка из потребности есть пометка: подтвержден тестом, заявлен или нет в профиле</a:t>
            </a:r>
          </a:p>
          <a:p>
            <a:pPr marL="182880" indent="-182880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1C1D22"/>
                </a:solidFill>
              </a:rPr>
              <a:t>Вклады с весами. </a:t>
            </a:r>
            <a:r>
              <a:rPr lang="ru-RU" sz="1300">
                <a:solidFill>
                  <a:srgbClr val="1C1D22"/>
                </a:solidFill>
              </a:rPr>
              <a:t>Полоски показывают вклад и вес каждого фактора</a:t>
            </a:r>
          </a:p>
          <a:p>
            <a:pPr marL="182880" indent="-182880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1C1D22"/>
                </a:solidFill>
              </a:rPr>
              <a:t>Фильтры без потери подборки. </a:t>
            </a:r>
            <a:r>
              <a:rPr lang="ru-RU" sz="1300">
                <a:solidFill>
                  <a:srgbClr val="1C1D22"/>
                </a:solidFill>
              </a:rPr>
              <a:t>Грейд, навыки, формат, «только подтвержденные», «есть достижения ФСП». Они сужают выдачу, не меняя порядок, и сохраняются в адресе страницы</a:t>
            </a:r>
          </a:p>
          <a:p>
            <a:pPr marL="182880" indent="-182880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1C1D22"/>
                </a:solidFill>
              </a:rPr>
              <a:t>Шортлист. </a:t>
            </a:r>
            <a:r>
              <a:rPr lang="ru-RU" sz="1300">
                <a:solidFill>
                  <a:srgbClr val="1C1D22"/>
                </a:solidFill>
              </a:rPr>
              <a:t>Отобранные кандидаты всегда видны над выдачей, какие бы фильтры ни стояли</a:t>
            </a:r>
          </a:p>
          <a:p>
            <a:pPr marL="182880" indent="-182880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300" b="1">
                <a:solidFill>
                  <a:srgbClr val="1C1D22"/>
                </a:solidFill>
              </a:rPr>
              <a:t>Рекомендованные категории. </a:t>
            </a:r>
            <a:r>
              <a:rPr lang="ru-RU" sz="1300">
                <a:solidFill>
                  <a:srgbClr val="1C1D22"/>
                </a:solidFill>
              </a:rPr>
              <a:t>Сколько кандидатов в каждой паре «направление и грейд» и сколько из них подтверждены. Клик по категории ставит фильтр</a:t>
            </a:r>
          </a:p>
        </p:txBody>
      </p:sp>
      <p:pic>
        <p:nvPicPr>
          <p:cNvPr id="12" name="Picture 11" descr="ex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097280"/>
            <a:ext cx="4572000" cy="5257800"/>
          </a:xfrm>
          <a:prstGeom prst="roundRect">
            <a:avLst>
              <a:gd name="adj" fmla="val 3000"/>
            </a:avLst>
          </a:prstGeom>
          <a:ln w="9525">
            <a:solidFill>
              <a:srgbClr val="D9D3E6"/>
            </a:solidFill>
          </a:ln>
        </p:spPr>
      </p:pic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54487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900" b="1">
                <a:solidFill>
                  <a:srgbClr val="FF0053"/>
                </a:solidFill>
              </a:rPr>
              <a:t>0,68 против 0,40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77724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P@5 нашего подбора и поиска по ключевым словам резюме. У BM25 0,31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900" b="1">
                <a:solidFill>
                  <a:srgbClr val="FF0053"/>
                </a:solidFill>
              </a:rPr>
              <a:t>nDCG@10 0,85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77724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95% доверительный интервал 0,79-0,90 (бутстреп по потребностям)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900" b="1">
                <a:solidFill>
                  <a:srgbClr val="FF0053"/>
                </a:solidFill>
              </a:rPr>
              <a:t>0,50 на слепом генераторе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77724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Четверть навыков записана перефразами вне словаря, 30% кандидатов набивают резюме. Поиск по резюме и грейду: 0,20-0,32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900" b="1">
                <a:solidFill>
                  <a:srgbClr val="FF0053"/>
                </a:solidFill>
              </a:rPr>
              <a:t>52% без ФСП в топ-10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77724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А в пуле их 59%: бонус ФСП не вытесняет остальных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21226"/>
            <a:ext cx="3453431" cy="3761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ПРОВЕРКА ПОДБОРА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8872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500" b="1">
                <a:solidFill>
                  <a:srgbClr val="520977"/>
                </a:solidFill>
              </a:rPr>
              <a:t>P@5: доля релевантных в топ-5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320040" y="1554480"/>
          <a:ext cx="60350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5760720"/>
            <a:ext cx="5760720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100">
                <a:solidFill>
                  <a:srgbClr val="5B5B6E"/>
                </a:solidFill>
              </a:rPr>
              <a:t>Синтетика: 40 потребностей по 60 кандидатов с известной релевантностью, 25% кандидатов завышают грейд. Экспертной разметки пар пока нет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739425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lIns="128016" rtlCol="0">
              <a:spAutoFit/>
            </a:bodyPr>
            <a:lstStyle/>
            <a:p>
              <a:r>
                <a:rPr lang="ru-RU" sz="90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app.nektarum.ru/fsp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lIns="128016" rtlCol="0">
              <a:spAutoFit/>
            </a:bodyPr>
            <a:lstStyle/>
            <a:p>
              <a:r>
                <a:rPr lang="ru-RU" sz="90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app.nektarum.ru/fsp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13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114800"/>
            <a:ext cx="4121687" cy="68580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Значение по умолчанию фиксирует i в каждой функции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114800"/>
            <a:ext cx="4121687" cy="68580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Замыкание видит последнее i, так что заученный ответ «6» тут не подходит</a:t>
            </a:r>
          </a:p>
        </p:txBody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21226"/>
            <a:ext cx="3647985" cy="3761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СЕМЕЙСТВА ЗАДАНИЙ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5880" y="169164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 b="1">
                <a:solidFill>
                  <a:srgbClr val="FFFFFF"/>
                </a:solidFill>
              </a:rPr>
              <a:t>Экземпляр A: что выведет программа?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5880" y="2194560"/>
            <a:ext cx="3886200" cy="11887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</a:pPr>
            <a:r>
              <a:rPr lang="ru-RU" sz="1500">
                <a:solidFill>
                  <a:srgbClr val="FFFFFF"/>
                </a:solidFill>
                <a:latin typeface="Courier New"/>
              </a:rPr>
              <a:t>funcs = [lambda i=i: i * 3</a:t>
            </a:r>
          </a:p>
          <a:p>
            <a:pPr>
              <a:lnSpc>
                <a:spcPct val="115000"/>
              </a:lnSpc>
            </a:pPr>
            <a:r>
              <a:rPr lang="ru-RU" sz="1500">
                <a:solidFill>
                  <a:srgbClr val="FFFFFF"/>
                </a:solidFill>
                <a:latin typeface="Courier New"/>
              </a:rPr>
              <a:t>         for i in range(3)]</a:t>
            </a:r>
          </a:p>
          <a:p>
            <a:pPr>
              <a:lnSpc>
                <a:spcPct val="115000"/>
              </a:lnSpc>
            </a:pPr>
            <a:r>
              <a:rPr lang="ru-RU" sz="1500">
                <a:solidFill>
                  <a:srgbClr val="FFFFFF"/>
                </a:solidFill>
                <a:latin typeface="Courier New"/>
              </a:rPr>
              <a:t>print(funcs[2]())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76872" y="169164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 b="1">
                <a:solidFill>
                  <a:srgbClr val="FFFFFF"/>
                </a:solidFill>
              </a:rPr>
              <a:t>Экземпляр B: что выведет программа?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76872" y="2194560"/>
            <a:ext cx="3886200" cy="11887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</a:pPr>
            <a:r>
              <a:rPr lang="ru-RU" sz="1500">
                <a:solidFill>
                  <a:srgbClr val="FFFFFF"/>
                </a:solidFill>
                <a:latin typeface="Courier New"/>
              </a:rPr>
              <a:t>funcs = [lambda: i * 2</a:t>
            </a:r>
          </a:p>
          <a:p>
            <a:pPr>
              <a:lnSpc>
                <a:spcPct val="115000"/>
              </a:lnSpc>
            </a:pPr>
            <a:r>
              <a:rPr lang="ru-RU" sz="1500">
                <a:solidFill>
                  <a:srgbClr val="FFFFFF"/>
                </a:solidFill>
                <a:latin typeface="Courier New"/>
              </a:rPr>
              <a:t>         for i in range(5)]</a:t>
            </a:r>
          </a:p>
          <a:p>
            <a:pPr>
              <a:lnSpc>
                <a:spcPct val="115000"/>
              </a:lnSpc>
            </a:pPr>
            <a:r>
              <a:rPr lang="ru-RU" sz="1500">
                <a:solidFill>
                  <a:srgbClr val="FFFFFF"/>
                </a:solidFill>
                <a:latin typeface="Courier New"/>
              </a:rPr>
              <a:t>print(funcs[3]())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25880" y="3401568"/>
            <a:ext cx="3886200" cy="411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700" b="1">
                <a:solidFill>
                  <a:srgbClr val="FFD6E3"/>
                </a:solidFill>
              </a:rPr>
              <a:t>Ответ: 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76872" y="3401568"/>
            <a:ext cx="3886200" cy="411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700" b="1">
                <a:solidFill>
                  <a:srgbClr val="FFD6E3"/>
                </a:solidFill>
              </a:rPr>
              <a:t>Ответ: 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4892040"/>
            <a:ext cx="356616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3232" y="5029200"/>
            <a:ext cx="3246120" cy="1325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300" b="1">
                <a:solidFill>
                  <a:srgbClr val="520977"/>
                </a:solidFill>
              </a:rPr>
              <a:t>Одно семейство py.late_binding. </a:t>
            </a:r>
            <a:r>
              <a:rPr lang="ru-RU" sz="1300">
                <a:solidFill>
                  <a:srgbClr val="1C1D22"/>
                </a:solidFill>
              </a:rPr>
              <a:t>Структура и сложность (b = 0,9) общие, а данные и ответ в каждой попытке свои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43400" y="4892040"/>
            <a:ext cx="356616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07992" y="5029200"/>
            <a:ext cx="3246120" cy="1325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300" b="1">
                <a:solidFill>
                  <a:srgbClr val="520977"/>
                </a:solidFill>
              </a:rPr>
              <a:t>78 семейств, 9 компетенций. </a:t>
            </a:r>
            <a:r>
              <a:rPr lang="ru-RU" sz="1300">
                <a:solidFill>
                  <a:srgbClr val="1C1D22"/>
                </a:solidFill>
              </a:rPr>
              <a:t>Эталоны вычисляет код: Python запускаем, SQL выполняем в SQLite, алгоритмы решаем программно, ответы по JS сверили с Node.js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38160" y="4892040"/>
            <a:ext cx="356616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2752" y="5029200"/>
            <a:ext cx="3246120" cy="1325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300" b="1">
                <a:solidFill>
                  <a:srgbClr val="520977"/>
                </a:solidFill>
              </a:rPr>
              <a:t>Эталон не уходит в браузер. </a:t>
            </a:r>
            <a:r>
              <a:rPr lang="ru-RU" sz="1300">
                <a:solidFill>
                  <a:srgbClr val="1C1D22"/>
                </a:solidFill>
              </a:rPr>
              <a:t>Ответы двух экземпляров одного семейства совпадают реже, чем в половине случаев. Это проверяет тест по всему банку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rgbClr val="520977"/>
                </a:solidFill>
              </a:rPr>
              <a:t>КАК ИДЕТ ТЕСТ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097280"/>
            <a:ext cx="4807840" cy="5303520"/>
          </a:xfrm>
        </p:spPr>
        <p:txBody>
          <a:bodyPr/>
          <a:lstStyle/>
          <a:p>
            <a:pPr marL="0" indent="0">
              <a:spcAft>
                <a:spcPts val="1800"/>
              </a:spcAft>
              <a:buNone/>
            </a:pPr>
            <a:r>
              <a:rPr lang="ru-RU" sz="1400" b="1">
                <a:solidFill>
                  <a:srgbClr val="520977"/>
                </a:solidFill>
              </a:rPr>
              <a:t>01  Сборка. </a:t>
            </a:r>
            <a:r>
              <a:rPr lang="ru-RU" sz="1400">
                <a:solidFill>
                  <a:srgbClr val="1C1D22"/>
                </a:solidFill>
              </a:rPr>
              <a:t>15 заданий за 25 минут по квотам направления (backend: Python 4, SQL 4, алгоритмы 4, HTTP 3), сложность у порога заявленного грейда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ru-RU" sz="1400" b="1">
                <a:solidFill>
                  <a:srgbClr val="520977"/>
                </a:solidFill>
              </a:rPr>
              <a:t>02  Оценка. </a:t>
            </a:r>
            <a:r>
              <a:rPr lang="ru-RU" sz="1400">
                <a:solidFill>
                  <a:srgbClr val="1C1D22"/>
                </a:solidFill>
              </a:rPr>
              <a:t>Модель 2PL IRT, уровень </a:t>
            </a:r>
            <a:r>
              <a:rPr lang="ru-RU" sz="1400">
                <a:solidFill>
                  <a:srgbClr val="1C1D22"/>
                </a:solidFill>
                <a:latin typeface="Arial"/>
              </a:rPr>
              <a:t>θ</a:t>
            </a:r>
            <a:r>
              <a:rPr lang="ru-RU" sz="1400">
                <a:solidFill>
                  <a:srgbClr val="1C1D22"/>
                </a:solidFill>
              </a:rPr>
              <a:t> и ошибка SE по методу EAP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u-RU" sz="1400" b="1">
                <a:solidFill>
                  <a:srgbClr val="520977"/>
                </a:solidFill>
              </a:rPr>
              <a:t>03  Решение. </a:t>
            </a:r>
            <a:r>
              <a:rPr lang="ru-RU" sz="1400">
                <a:solidFill>
                  <a:srgbClr val="1C1D22"/>
                </a:solidFill>
              </a:rPr>
              <a:t>Если </a:t>
            </a:r>
            <a:r>
              <a:rPr lang="ru-RU" sz="1400">
                <a:solidFill>
                  <a:srgbClr val="1C1D22"/>
                </a:solidFill>
                <a:latin typeface="Arial"/>
              </a:rPr>
              <a:t>θ</a:t>
            </a:r>
            <a:r>
              <a:rPr lang="ru-RU" sz="1400">
                <a:solidFill>
                  <a:srgbClr val="1C1D22"/>
                </a:solidFill>
              </a:rPr>
              <a:t> - 0,25·SE ≥ порога заявленного грейда, он подтвержден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ru-RU" sz="1400">
                <a:solidFill>
                  <a:srgbClr val="5B5B6E"/>
                </a:solidFill>
              </a:rPr>
              <a:t>Пороги </a:t>
            </a:r>
            <a:r>
              <a:rPr lang="ru-RU" sz="1400">
                <a:solidFill>
                  <a:srgbClr val="5B5B6E"/>
                </a:solidFill>
                <a:latin typeface="Arial"/>
              </a:rPr>
              <a:t>θ</a:t>
            </a:r>
            <a:r>
              <a:rPr lang="ru-RU" sz="1400">
                <a:solidFill>
                  <a:srgbClr val="5B5B6E"/>
                </a:solidFill>
              </a:rPr>
              <a:t>: Junior -1; Middle 0; Senior 1; Lead 1,8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ru-RU" sz="1400" b="1">
                <a:solidFill>
                  <a:srgbClr val="520977"/>
                </a:solidFill>
              </a:rPr>
              <a:t>04  Продление. </a:t>
            </a:r>
            <a:r>
              <a:rPr lang="ru-RU" sz="1400">
                <a:solidFill>
                  <a:srgbClr val="1C1D22"/>
                </a:solidFill>
              </a:rPr>
              <a:t>Если до порога меньше одной SE, тест добавляет 5 заданий у порога, не больше двух раз. В среднем выходит 18,9 задания, максимум 25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ru-RU" sz="1400" b="1">
                <a:solidFill>
                  <a:srgbClr val="520977"/>
                </a:solidFill>
              </a:rPr>
              <a:t>05  Устойчивость. </a:t>
            </a:r>
            <a:r>
              <a:rPr lang="ru-RU" sz="1400">
                <a:solidFill>
                  <a:srgbClr val="1C1D22"/>
                </a:solidFill>
              </a:rPr>
              <a:t>Вероятность, что повторная попытка даст то же решение. Если она ниже 65%, ставим метку «у границы грейда»</a:t>
            </a:r>
          </a:p>
        </p:txBody>
      </p:sp>
      <p:pic>
        <p:nvPicPr>
          <p:cNvPr id="10" name="Picture 9" descr="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964171"/>
            <a:ext cx="5486400" cy="3923818"/>
          </a:xfrm>
          <a:prstGeom prst="roundRect">
            <a:avLst>
              <a:gd name="adj" fmla="val 3000"/>
            </a:avLst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1206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3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7150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заданий в полном тесте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51206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3000" b="1">
                <a:solidFill>
                  <a:srgbClr val="FFFFFF"/>
                </a:solidFill>
              </a:rPr>
              <a:t>18,9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57150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в среднем с продлением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51206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3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57150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в экспресс-тесте для жюри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346075" y="324562"/>
            <a:ext cx="367548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6"/>
                </a:solidFill>
              </a:rPr>
              <a:pPr/>
              <a:t>15</a:t>
            </a:fld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900" b="1">
                <a:solidFill>
                  <a:srgbClr val="FF0053"/>
                </a:solidFill>
              </a:rPr>
              <a:t>92% против 11%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590" y="1739825"/>
            <a:ext cx="4790314" cy="77724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столько получают Middle, зная половину ответов: с единым набором и с нашими семействами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900" b="1">
                <a:solidFill>
                  <a:srgbClr val="FF0053"/>
                </a:solidFill>
              </a:rPr>
              <a:t>7% при утечке всех ответов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76590" y="3008386"/>
            <a:ext cx="4790314" cy="77724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слитый ответ относится к чужому экземпляру, так что тот, кто его вписывает, ошибается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900" b="1">
                <a:solidFill>
                  <a:srgbClr val="FF0053"/>
                </a:solidFill>
              </a:rPr>
              <a:t>0 из 78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6590" y="4276947"/>
            <a:ext cx="4790314" cy="77724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семейств, где у двух экземпляров ответ совпадает хотя бы в половине случаев. Максимум 47%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AFC1158-120D-4CE1-AFB1-4C61CA6A366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900" b="1">
                <a:solidFill>
                  <a:srgbClr val="FF0053"/>
                </a:solidFill>
              </a:rPr>
              <a:t>Детектор ловит 93%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6FB8C27-CC1E-4515-8198-911B043ED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76590" y="5545509"/>
            <a:ext cx="4790314" cy="777240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тех, кто знает ответы на половину заданий из утечки. Ложных срабатываний на честных 0%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21226"/>
            <a:ext cx="3584045" cy="3761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УТЕЧКА НЕ ПОМОГАЕТ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188720"/>
            <a:ext cx="585216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300" b="1">
                <a:solidFill>
                  <a:srgbClr val="520977"/>
                </a:solidFill>
              </a:rPr>
              <a:t>Junior заявляет Middle и знает часть ответов из утечки. Сколько из них получают Middle (backend)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20040" y="1783080"/>
          <a:ext cx="6126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603504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100">
                <a:solidFill>
                  <a:srgbClr val="5B5B6E"/>
                </a:solidFill>
              </a:rPr>
              <a:t>По оси X доля слитых ответов. 300 кандидатов на точку, у frontend и data science картина та же</a:t>
            </a:r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6583680" cy="552061"/>
          </a:xfrm>
        </p:spPr>
        <p:txBody>
          <a:bodyPr/>
          <a:lstStyle/>
          <a:p>
            <a:pPr marL="0" indent="0">
              <a:buNone/>
            </a:pPr>
            <a:r>
              <a:rPr lang="ru-RU" sz="2600"/>
              <a:t>ТОЧНОСТЬ И СТАБИЛЬНОСТЬ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94360" y="1554480"/>
          <a:ext cx="6400800" cy="3401568"/>
        </p:xfrm>
        <a:graphic>
          <a:graphicData uri="http://schemas.openxmlformats.org/drawingml/2006/table">
            <a:tbl>
              <a:tblPr first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Истинный грейд</a:t>
                      </a:r>
                    </a:p>
                  </a:txBody>
                  <a:tcPr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Подтвержден при честной заявке</a:t>
                      </a:r>
                    </a:p>
                  </a:txBody>
                  <a:tcPr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Заявил грейд выше и прошел</a:t>
                      </a:r>
                    </a:p>
                  </a:txBody>
                  <a:tcPr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>
                          <a:solidFill>
                            <a:srgbClr val="FFFFFF"/>
                          </a:solidFill>
                        </a:rPr>
                        <a:t>Средняя оценка </a:t>
                      </a:r>
                      <a:r>
                        <a:rPr lang="ru-RU" sz="1200" b="1">
                          <a:solidFill>
                            <a:srgbClr val="FFFFFF"/>
                          </a:solidFill>
                          <a:latin typeface="Arial"/>
                        </a:rPr>
                        <a:t>θ</a:t>
                      </a:r>
                    </a:p>
                  </a:txBody>
                  <a:tcPr anchor="ctr">
                    <a:solidFill>
                      <a:srgbClr val="520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520977"/>
                          </a:solidFill>
                        </a:rPr>
                        <a:t>Стажер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10,3%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-1,44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520977"/>
                          </a:solidFill>
                        </a:rPr>
                        <a:t>Junior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84,0%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11,3%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-0,46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520977"/>
                          </a:solidFill>
                        </a:rPr>
                        <a:t>Middle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75,0%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6,7%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+0,43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520977"/>
                          </a:solidFill>
                        </a:rPr>
                        <a:t>Senior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71,7%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7,0%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+1,31</a:t>
                      </a:r>
                    </a:p>
                  </a:txBody>
                  <a:tcPr anchor="ctr">
                    <a:solidFill>
                      <a:srgbClr val="F3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520977"/>
                          </a:solidFill>
                        </a:rPr>
                        <a:t>Lead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71,3%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нет выше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0">
                          <a:solidFill>
                            <a:srgbClr val="1C1D22"/>
                          </a:solidFill>
                        </a:rPr>
                        <a:t>+2,12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94360" y="51206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100">
                <a:solidFill>
                  <a:srgbClr val="5B5B6E"/>
                </a:solidFill>
              </a:rPr>
              <a:t>Backend, 300 синтетических кандидатов на грейд, ответы смоделированы по 2PL. У frontend и data science разница до 4 п.п. Средняя оценка растет от грейда к грейду, значит тест различает уровни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155448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2200" b="1">
                <a:solidFill>
                  <a:srgbClr val="FF0053"/>
                </a:solidFill>
              </a:rPr>
              <a:t>r = 0,95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057400"/>
            <a:ext cx="4069080" cy="1005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1C1D22"/>
                </a:solidFill>
              </a:rPr>
              <a:t>корреляция оценки с истинным уровнем во всех трех направлениях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127248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2200" b="1">
                <a:solidFill>
                  <a:srgbClr val="FF0053"/>
                </a:solidFill>
              </a:rPr>
              <a:t>77-78%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630168"/>
            <a:ext cx="4069080" cy="1005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1C1D22"/>
                </a:solidFill>
              </a:rPr>
              <a:t>решений «подтвержден или нет» повторяются на других заданиях. У тех, кто дальше 0,5 от порога, 88-92%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700016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2200" b="1">
                <a:solidFill>
                  <a:srgbClr val="FF0053"/>
                </a:solidFill>
              </a:rPr>
              <a:t>49-56% у порога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5202936"/>
            <a:ext cx="4069080" cy="1005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1C1D22"/>
                </a:solidFill>
              </a:rPr>
              <a:t>здесь решение почти монетка при любом тесте. Для 85% понадобилось бы 45-60 заданий, поэтому мы показываем кандидату устойчивость его результата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rgbClr val="520977"/>
                </a:solidFill>
              </a:rPr>
              <a:t>ПРАВИЛА ГРЕЙДА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2377440" cy="712587"/>
          </a:xfrm>
        </p:spPr>
        <p:txBody>
          <a:bodyPr anchor="ctr"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Категория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2377440" cy="712587"/>
          </a:xfrm>
        </p:spPr>
        <p:txBody>
          <a:bodyPr anchor="ctr"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Тест не пройден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2377440" cy="712587"/>
          </a:xfrm>
        </p:spPr>
        <p:txBody>
          <a:bodyPr anchor="ctr"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Пройден уверенно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2377440" cy="712587"/>
          </a:xfrm>
        </p:spPr>
        <p:txBody>
          <a:bodyPr anchor="ctr"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Ограничения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2377440" cy="712587"/>
          </a:xfrm>
        </p:spPr>
        <p:txBody>
          <a:bodyPr anchor="ctr"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Без теста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63240" y="1695025"/>
            <a:ext cx="877824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ru-RU" sz="1400">
                <a:solidFill>
                  <a:srgbClr val="1C1D22"/>
                </a:solidFill>
              </a:rPr>
              <a:t>Направление и грейд, подтвержденный тестом. Направлений 3, грейдов 5: Стажер, Junior, Middle, Senior,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2552035"/>
            <a:ext cx="877824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ru-RU" sz="1400">
                <a:solidFill>
                  <a:srgbClr val="1C1D22"/>
                </a:solidFill>
              </a:rPr>
              <a:t>Грейд не понижается. Тест на грейд ниже можно пройти сразу, без ожидания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409044"/>
            <a:ext cx="877824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ru-RU" sz="1400">
                <a:solidFill>
                  <a:srgbClr val="1C1D22"/>
                </a:solidFill>
              </a:rPr>
              <a:t>Если </a:t>
            </a:r>
            <a:r>
              <a:rPr lang="ru-RU" sz="1400">
                <a:solidFill>
                  <a:srgbClr val="1C1D22"/>
                </a:solidFill>
                <a:latin typeface="Arial"/>
              </a:rPr>
              <a:t>θ</a:t>
            </a:r>
            <a:r>
              <a:rPr lang="ru-RU" sz="1400">
                <a:solidFill>
                  <a:srgbClr val="1C1D22"/>
                </a:solidFill>
              </a:rPr>
              <a:t> - 0,25·SE выше порога следующего грейда, сразу предлагаем тест на него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266053"/>
            <a:ext cx="877824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ru-RU" sz="1400">
                <a:solidFill>
                  <a:srgbClr val="1C1D22"/>
                </a:solidFill>
              </a:rPr>
              <a:t>Сменить подтвержденный грейд или направление можно не чаще раза в 90 дней. Пересдача того же грейда через 30 дней, без семейств из прошлых попыток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123063"/>
            <a:ext cx="877824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ru-RU" sz="1400">
                <a:solidFill>
                  <a:srgbClr val="1C1D22"/>
                </a:solidFill>
              </a:rPr>
              <a:t>Кандидат виден работодателю с пометкой «грейд не подтвержден» и стоит ниже в выдаче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90150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00400"/>
            <a:ext cx="3264113" cy="292608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ru-RU" sz="1700" b="1">
                <a:solidFill>
                  <a:srgbClr val="FF0053"/>
                </a:solidFill>
              </a:rPr>
              <a:t>Привязка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400">
                <a:solidFill>
                  <a:srgbClr val="1C1D22"/>
                </a:solidFill>
              </a:rPr>
              <a:t>Кнопка «Привязать ФСП ID» в профиле. Вход по OIDC (Authorization Code + PKCE), пароль ФСП ID вводится заново (prompt=login). Бэкенд проверяет подпись токена и nonce, затем берет номер участника. Один ФСП ID на профиль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00400"/>
            <a:ext cx="3264113" cy="292608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ru-RU" sz="1700" b="1">
                <a:solidFill>
                  <a:srgbClr val="FF0053"/>
                </a:solidFill>
              </a:rPr>
              <a:t>Реестр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400">
                <a:solidFill>
                  <a:srgbClr val="1C1D22"/>
                </a:solidFill>
              </a:rPr>
              <a:t>Модель данных для ФСП придумали сами: соревнование с дисциплиной и номером ЕКП, результат (победа, призер, финал, участие, место, команда), разряд от III до МС. Разряд показываем, но в скор не берем: его дают за те же результаты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00400"/>
            <a:ext cx="3264113" cy="292608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ru-RU" sz="1700" b="1">
                <a:solidFill>
                  <a:srgbClr val="FF0053"/>
                </a:solidFill>
              </a:rPr>
              <a:t>Ранжирование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ru-RU" sz="1400">
                <a:solidFill>
                  <a:srgbClr val="1C1D22"/>
                </a:solidFill>
              </a:rPr>
              <a:t>Бонус = 1 - exp(-</a:t>
            </a:r>
            <a:r>
              <a:rPr lang="ru-RU" sz="1400">
                <a:solidFill>
                  <a:srgbClr val="1C1D22"/>
                </a:solidFill>
                <a:latin typeface="Arial"/>
              </a:rPr>
              <a:t>Σ</a:t>
            </a:r>
            <a:r>
              <a:rPr lang="ru-RU" sz="1400">
                <a:solidFill>
                  <a:srgbClr val="1C1D22"/>
                </a:solidFill>
              </a:rPr>
              <a:t> вес·затухание). Вес победы и призового места 1, финала 0,5, участия 0, все соревнования равны. Профильную дисциплину отмечаем в объяснении. Нет истории ФСП: бонус 0, без штрафа и без упоминания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21226"/>
            <a:ext cx="3810063" cy="3761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ФСП ID И ДОСТИЖЕНИЯ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448986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1400">
                <a:solidFill>
                  <a:schemeClr val="tx1"/>
                </a:solidFill>
              </a:rPr>
              <a:t>«Кандидат №1440» вместо ФИО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tx1"/>
                </a:solidFill>
              </a:rPr>
              <a:t>Категория, итоги теста по компетенциям, навыки, стаж, результаты ФСП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tx1"/>
                </a:solidFill>
              </a:rPr>
              <a:t>Опыт без названий компаний, результаты ФСП без названий команд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tx1"/>
                </a:solidFill>
              </a:rPr>
              <a:t>Email, телефон, ссылки и @ники в тексте заменяются на «[контакт скрыт]»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tx1"/>
                </a:solidFill>
              </a:rPr>
              <a:t>Зарплатные ожидания не видны, это скрытый порог для вилки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tx1"/>
                </a:solidFill>
              </a:rPr>
              <a:t>Кандидат может скрыть «о себе», опыт, образование и софт-скиллы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1400">
                <a:solidFill>
                  <a:schemeClr val="tx1"/>
                </a:solidFill>
              </a:rPr>
              <a:t>ФИО, email, телефон, Telegram, названия компаний и команд ФСП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tx1"/>
                </a:solidFill>
              </a:rPr>
              <a:t>Переписка внутри платформы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tx1"/>
                </a:solidFill>
              </a:rPr>
              <a:t>Все это видит только пригласившая компания. Кандидат может закрыть доступ, тогда переписка останется только для чтения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tx1"/>
                </a:solidFill>
              </a:rPr>
              <a:t>PDF-профиль собирается из тех же данных и по тем же правилам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tx1"/>
                </a:solidFill>
              </a:rPr>
              <a:t>Согласия по 152-ФЗ раздельные, с версией документа: на обработку, на показ профиля и на данные из реестра ФСП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tx1"/>
                </a:solidFill>
              </a:rPr>
              <a:t>Мы строже ТЗ: ФИО и места работы тоже скрыты до принятия, иначе человека легко найти в обход его согласия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56851"/>
            <a:ext cx="4398429" cy="3761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ЧТО ВИДИТ РАБОТОДАТЕЛЬ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>
                <a:solidFill>
                  <a:schemeClr val="accent5"/>
                </a:solidFill>
              </a:rPr>
              <a:t>До принятия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>
                <a:solidFill>
                  <a:schemeClr val="accent5"/>
                </a:solidFill>
              </a:rPr>
              <a:t>После принятия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32352E2-54BA-705C-C9BB-328B5BDEF2D2}"/>
              </a:ext>
            </a:extLst>
          </p:cNvPr>
          <p:cNvSpPr/>
          <p:nvPr/>
        </p:nvSpPr>
        <p:spPr>
          <a:xfrm>
            <a:off x="346075" y="324562"/>
            <a:ext cx="5522604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2" name="Рисунок 1" descr="mobi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073" b="1073"/>
          <a:stretch>
            <a:fillRect/>
          </a:stretch>
        </p:blipFill>
        <p:spPr/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ED043264-47A7-41A8-BD39-44764904AB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600" b="1">
                <a:solidFill>
                  <a:srgbClr val="520977"/>
                </a:solidFill>
              </a:rPr>
              <a:t>Вакансии и отклик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760666-5FA0-4D8C-AB12-AC2144A466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98483"/>
            <a:ext cx="3812931" cy="1290596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Потребность публикуется как вакансия, и отклик сразу открывает компании контакты. С подтвержденным грейдом откликаться можно на вакансии своего грейда ±1, без него до 3 откликов в неделю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A4149DD-AEA5-4B34-B1C7-7F98E296C6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600" b="1">
                <a:solidFill>
                  <a:srgbClr val="520977"/>
                </a:solidFill>
              </a:rPr>
              <a:t>Кейс недели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0E3C014-67F9-4CD2-9DAD-DD9229F6DB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98483"/>
            <a:ext cx="3812931" cy="1290596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Раз в неделю кандидату приходит задание его направления из банка, ответ проверяется автоматически. Работодатель видит «кейсы недели: N за 30 дней», на грейд это не влияет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C941A72-EFAF-44F7-BEB7-6AB833109C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600" b="1">
                <a:solidFill>
                  <a:srgbClr val="520977"/>
                </a:solidFill>
              </a:rPr>
              <a:t>Доверие к работодателю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455AC49-3B10-4E7B-8E60-B114266B10E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321798"/>
            <a:ext cx="3812931" cy="1290596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У новой компании до 5 приглашений без ответа, после подтверждения домена до 20. После трех жалоб от разных кандидатов компания заморожена до разбора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BBC9E7C-9583-4A41-9E75-CEE9530DD8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600" b="1">
                <a:solidFill>
                  <a:srgbClr val="520977"/>
                </a:solidFill>
              </a:rPr>
              <a:t>Интеграция с ATS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A3A59F4-773A-4619-B45C-1B0EA46D9BB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321798"/>
            <a:ext cx="3812931" cy="1290596"/>
          </a:xfrm>
        </p:spPr>
        <p:txBody>
          <a:bodyPr/>
          <a:lstStyle/>
          <a:p>
            <a:pPr marL="0" indent="0">
              <a:buNone/>
            </a:pPr>
            <a:r>
              <a:rPr lang="ru-RU" sz="1300" b="0">
                <a:solidFill>
                  <a:srgbClr val="1C1D22"/>
                </a:solidFill>
              </a:rPr>
              <a:t>Лента событий по API-токену: GET /api/v1/ats/events. Вебхуки и адаптеры для Хантфлоу и Talantix пока описаны в концепции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3FE28FC6-A9E9-4F9B-8446-38D1CD450EF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A4EDC46-4F2C-4275-9CDC-2BD481E430A8}"/>
              </a:ext>
            </a:extLst>
          </p:cNvPr>
          <p:cNvGrpSpPr/>
          <p:nvPr/>
        </p:nvGrpSpPr>
        <p:grpSpPr>
          <a:xfrm>
            <a:off x="4951937" y="1208819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ADC314F-9F19-4FEA-97AD-07F26F51B620}"/>
                </a:ext>
              </a:extLst>
            </p:cNvPr>
            <p:cNvSpPr/>
            <p:nvPr/>
          </p:nvSpPr>
          <p:spPr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376E7FEE-0EB1-4746-9DDD-1684A7001A8E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A8C3F5C7-7636-41A4-BA80-3491804B8786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811CD315-417D-43F3-86F1-90773170876F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2BB8CDF7-2F1E-4B42-A7CD-D11EC8EDA406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68B6A556-7D40-478D-84FB-4EF0FC7DA59F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12827976-DC27-4EAF-8E52-EBEFEC7E0761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6530F195-F566-483B-94CE-768CC428E39B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18CA254A-9E3B-4352-82B2-BA84B9F413EC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4273616-0536-4E9E-A4BE-5D7114D4C4E6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81AF835D-BC32-4CF6-9D53-BC9BE3935788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668C5EB7-3AC0-4913-B7E5-76B46FFF714C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18FAB6AC-0AD1-4123-96B1-6FDD727A66D6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E0079DE2-1327-4F2F-A9D1-235DB5B2BB66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8563A0D3-DD5F-48FE-8A05-4C2D704CE07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8452619C-3E15-4DC5-AB4B-6C88B9322F6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824479CF-8277-41BF-A7D4-9E38E5D3A492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0B62DAC2-F1F4-4ECF-851D-BEC23148FE5D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45311E48-AC2A-4A80-A65A-D356CC01C1AC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104AE29B-276D-4F69-9E54-6CBD0BE75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4FAE68B0-E6D3-4A99-8C27-FF0701E8FAD5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81A0CB6C-0D74-4877-B97D-73B7D6B320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7237E626-D311-4B83-8DBA-12DC3F813C32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F61B8E82-D4DC-41E9-B74B-4125D6F227F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9" name="Заголовок 13">
            <a:extLst>
              <a:ext uri="{FF2B5EF4-FFF2-40B4-BE49-F238E27FC236}">
                <a16:creationId xmlns:a16="http://schemas.microsoft.com/office/drawing/2014/main" id="{8E1F3D1B-B48D-3959-B6E3-253BFA6E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21226"/>
            <a:ext cx="5431164" cy="3761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ДОПОЛНИТЕЛЬНЫЙ ФУНКЦИОНАЛ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598932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ru-RU" sz="1200">
                <a:solidFill>
                  <a:srgbClr val="5B5B6E"/>
                </a:solidFill>
              </a:rPr>
              <a:t>Мобильная версия: все экраны обоих кабинетов проверили на ширине 375 px</a:t>
            </a:r>
          </a:p>
        </p:txBody>
      </p:sp>
    </p:spTree>
    <p:extLst>
      <p:ext uri="{BB962C8B-B14F-4D97-AF65-F5344CB8AC3E}">
        <p14:creationId xmlns:p14="http://schemas.microsoft.com/office/powerpoint/2010/main" val="540647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53293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21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40864"/>
            <a:ext cx="2377440" cy="423628"/>
          </a:xfrm>
        </p:spPr>
        <p:txBody>
          <a:bodyPr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Вход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40864"/>
            <a:ext cx="2377440" cy="403756"/>
          </a:xfrm>
        </p:spPr>
        <p:txBody>
          <a:bodyPr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Интерфейс и API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40864"/>
            <a:ext cx="2377440" cy="403913"/>
          </a:xfrm>
        </p:spPr>
        <p:txBody>
          <a:bodyPr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Вычисления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40864"/>
            <a:ext cx="2377440" cy="423628"/>
          </a:xfrm>
        </p:spPr>
        <p:txBody>
          <a:bodyPr/>
          <a:lstStyle/>
          <a:p>
            <a:pPr marL="0" indent="0">
              <a:buNone/>
            </a:pPr>
            <a:r>
              <a:rPr lang="ru-RU" sz="1500" b="1">
                <a:solidFill>
                  <a:srgbClr val="520977"/>
                </a:solidFill>
              </a:rPr>
              <a:t>Данные и вход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21226"/>
            <a:ext cx="2441491" cy="3761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АРХИТЕКТУРА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lang="ru-RU" sz="26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lang="ru-RU" sz="26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lang="ru-RU" sz="26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lang="ru-RU" sz="2600" b="1">
                <a:solidFill>
                  <a:srgbClr val="FF0053"/>
                </a:solidFill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2880360"/>
            <a:ext cx="2304288" cy="420624"/>
          </a:xfrm>
          <a:prstGeom prst="roundRect">
            <a:avLst>
              <a:gd name="adj" fmla="val 25000"/>
            </a:avLst>
          </a:prstGeom>
          <a:solidFill>
            <a:srgbClr val="E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lang="ru-RU" sz="1300" b="1">
                <a:solidFill>
                  <a:srgbClr val="520977"/>
                </a:solidFill>
              </a:rPr>
              <a:t>Браузер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374136"/>
            <a:ext cx="2240280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1C1D22"/>
                </a:solidFill>
              </a:rPr>
              <a:t>Один адрес для фронтенда, API, Keycloak и почты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4480560"/>
            <a:ext cx="2304288" cy="420624"/>
          </a:xfrm>
          <a:prstGeom prst="roundRect">
            <a:avLst>
              <a:gd name="adj" fmla="val 25000"/>
            </a:avLst>
          </a:prstGeom>
          <a:solidFill>
            <a:srgbClr val="E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lang="ru-RU" sz="1300" b="1">
                <a:solidFill>
                  <a:srgbClr val="520977"/>
                </a:solidFill>
              </a:rPr>
              <a:t>gateway (nginx)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974336"/>
            <a:ext cx="2240280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1C1D22"/>
                </a:solidFill>
              </a:rPr>
              <a:t>Единственный открытый порт. CORS не нужен, cookie сессии одна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2880360"/>
            <a:ext cx="2304288" cy="420624"/>
          </a:xfrm>
          <a:prstGeom prst="roundRect">
            <a:avLst>
              <a:gd name="adj" fmla="val 25000"/>
            </a:avLst>
          </a:prstGeom>
          <a:solidFill>
            <a:srgbClr val="E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lang="ru-RU" sz="1300" b="1">
                <a:solidFill>
                  <a:srgbClr val="520977"/>
                </a:solidFill>
              </a:rPr>
              <a:t>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11296" y="3374136"/>
            <a:ext cx="2240280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1C1D22"/>
                </a:solidFill>
              </a:rPr>
              <a:t>React, TypeScript, Vite, shadcn/ui. Клиент API генерируется из OpenAPI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4480560"/>
            <a:ext cx="2304288" cy="420624"/>
          </a:xfrm>
          <a:prstGeom prst="roundRect">
            <a:avLst>
              <a:gd name="adj" fmla="val 25000"/>
            </a:avLst>
          </a:prstGeom>
          <a:solidFill>
            <a:srgbClr val="E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lang="ru-RU" sz="1300" b="1">
                <a:solidFill>
                  <a:srgbClr val="520977"/>
                </a:solidFill>
              </a:rPr>
              <a:t>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11296" y="4974336"/>
            <a:ext cx="2240280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1C1D22"/>
                </a:solidFill>
              </a:rPr>
              <a:t>FastAPI, SQLAlchemy, Alembic: данные, права, сценарии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9944" y="2880360"/>
            <a:ext cx="2304288" cy="420624"/>
          </a:xfrm>
          <a:prstGeom prst="roundRect">
            <a:avLst>
              <a:gd name="adj" fmla="val 25000"/>
            </a:avLst>
          </a:prstGeom>
          <a:solidFill>
            <a:srgbClr val="E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lang="ru-RU" sz="1300" b="1">
                <a:solidFill>
                  <a:srgbClr val="520977"/>
                </a:solidFill>
              </a:rPr>
              <a:t>scoring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374136"/>
            <a:ext cx="2240280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1C1D22"/>
                </a:solidFill>
              </a:rPr>
              <a:t>FastAPI без состояния: банк заданий, сборка теста, IRT, скор с вкладами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9944" y="4480560"/>
            <a:ext cx="2304288" cy="420624"/>
          </a:xfrm>
          <a:prstGeom prst="roundRect">
            <a:avLst>
              <a:gd name="adj" fmla="val 25000"/>
            </a:avLst>
          </a:prstGeom>
          <a:solidFill>
            <a:srgbClr val="E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lang="ru-RU" sz="1300" b="1">
                <a:solidFill>
                  <a:srgbClr val="520977"/>
                </a:solidFill>
              </a:rPr>
              <a:t>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974336"/>
            <a:ext cx="2240280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1C1D22"/>
                </a:solidFill>
              </a:rPr>
              <a:t>Скрипты отчетов вызывают тот же код, что и прод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54312" y="2880360"/>
            <a:ext cx="2304288" cy="420624"/>
          </a:xfrm>
          <a:prstGeom prst="roundRect">
            <a:avLst>
              <a:gd name="adj" fmla="val 25000"/>
            </a:avLst>
          </a:prstGeom>
          <a:solidFill>
            <a:srgbClr val="E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lang="ru-RU" sz="1300" b="1">
                <a:solidFill>
                  <a:srgbClr val="520977"/>
                </a:solidFill>
              </a:rPr>
              <a:t>PostgreSQL 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0888" y="3374136"/>
            <a:ext cx="2240280" cy="518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1C1D22"/>
                </a:solidFill>
              </a:rPr>
              <a:t>Данные платформы и Keycloak в разных базах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54312" y="3947160"/>
            <a:ext cx="2304288" cy="420624"/>
          </a:xfrm>
          <a:prstGeom prst="roundRect">
            <a:avLst>
              <a:gd name="adj" fmla="val 25000"/>
            </a:avLst>
          </a:prstGeom>
          <a:solidFill>
            <a:srgbClr val="E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lang="ru-RU" sz="1300" b="1">
                <a:solidFill>
                  <a:srgbClr val="520977"/>
                </a:solidFill>
              </a:rPr>
              <a:t>Keycloak 26.8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4440936"/>
            <a:ext cx="2240280" cy="518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1C1D22"/>
                </a:solidFill>
              </a:rPr>
              <a:t>Вход, подтверждение email, тестовый ФСП ID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54312" y="5013960"/>
            <a:ext cx="2304288" cy="420624"/>
          </a:xfrm>
          <a:prstGeom prst="roundRect">
            <a:avLst>
              <a:gd name="adj" fmla="val 25000"/>
            </a:avLst>
          </a:prstGeom>
          <a:solidFill>
            <a:srgbClr val="E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lang="ru-RU" sz="1300" b="1">
                <a:solidFill>
                  <a:srgbClr val="520977"/>
                </a:solidFill>
              </a:rPr>
              <a:t>Mailpit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90888" y="5507736"/>
            <a:ext cx="2240280" cy="518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200">
                <a:solidFill>
                  <a:srgbClr val="1C1D22"/>
                </a:solidFill>
              </a:rPr>
              <a:t>Письма стенда видны на /mail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054096" y="3090672"/>
            <a:ext cx="219456" cy="0"/>
          </a:xfrm>
          <a:prstGeom prst="line">
            <a:avLst/>
          </a:prstGeom>
          <a:ln w="25400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89320" y="3090672"/>
            <a:ext cx="219456" cy="0"/>
          </a:xfrm>
          <a:prstGeom prst="line">
            <a:avLst/>
          </a:prstGeom>
          <a:ln w="25400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933688" y="3090672"/>
            <a:ext cx="219456" cy="0"/>
          </a:xfrm>
          <a:prstGeom prst="line">
            <a:avLst/>
          </a:prstGeom>
          <a:ln w="25400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11480" y="629107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ru-RU" sz="1100">
                <a:solidFill>
                  <a:srgbClr val="FFFFFF"/>
                </a:solidFill>
              </a:rPr>
              <a:t>Стенд поднимается одной командой docker compose up, миграции при старте. Лицензии зависимостей: MIT, BSD, Apache-2.0, ISC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288319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ru-RU" sz="1500" b="1">
                <a:solidFill>
                  <a:srgbClr val="520977"/>
                </a:solidFill>
              </a:rPr>
              <a:t>Стенд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ru-RU" sz="2400" b="1">
                <a:solidFill>
                  <a:srgbClr val="FF0053"/>
                </a:solidFill>
              </a:rPr>
              <a:t>app.nektarum.ru/fsp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ru-RU" sz="1500" b="1">
                <a:solidFill>
                  <a:srgbClr val="520977"/>
                </a:solidFill>
              </a:rPr>
              <a:t>Код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ru-RU" sz="1800" b="1">
                <a:solidFill>
                  <a:srgbClr val="FF0053"/>
                </a:solidFill>
              </a:rPr>
              <a:t>github.com/alotzte/fsp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ru-RU" sz="1300">
                <a:solidFill>
                  <a:srgbClr val="1C1D22"/>
                </a:solidFill>
              </a:rPr>
              <a:t>В README запуск одной командой и сценарий для жюри. В документации архитектура, механики, отчеты валидации и библиотеки с версиями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ru-RU" sz="1500" b="1">
                <a:solidFill>
                  <a:srgbClr val="520977"/>
                </a:solidFill>
              </a:rPr>
              <a:t>Тестовые спортсмены ФСП ID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ru-RU" sz="1300" b="1">
                <a:solidFill>
                  <a:srgbClr val="1C1D22"/>
                </a:solidFill>
              </a:rPr>
              <a:t>athlete1: </a:t>
            </a:r>
            <a:r>
              <a:rPr lang="ru-RU" sz="1300">
                <a:solidFill>
                  <a:srgbClr val="1C1D22"/>
                </a:solidFill>
              </a:rPr>
              <a:t>победа, призовое место и финал, КМС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ru-RU" sz="1300" b="1">
                <a:solidFill>
                  <a:srgbClr val="1C1D22"/>
                </a:solidFill>
              </a:rPr>
              <a:t>athlete2: </a:t>
            </a:r>
            <a:r>
              <a:rPr lang="ru-RU" sz="1300">
                <a:solidFill>
                  <a:srgbClr val="1C1D22"/>
                </a:solidFill>
              </a:rPr>
              <a:t>финал, I разряд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ru-RU" sz="1300" b="1">
                <a:solidFill>
                  <a:srgbClr val="1C1D22"/>
                </a:solidFill>
              </a:rPr>
              <a:t>athlete3: </a:t>
            </a:r>
            <a:r>
              <a:rPr lang="ru-RU" sz="1300">
                <a:solidFill>
                  <a:srgbClr val="1C1D22"/>
                </a:solidFill>
              </a:rPr>
              <a:t>только участие, бонуса нет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ru-RU" sz="1300" b="1">
                <a:solidFill>
                  <a:srgbClr val="1C1D22"/>
                </a:solidFill>
              </a:rPr>
              <a:t>athlete4: </a:t>
            </a:r>
            <a:r>
              <a:rPr lang="ru-RU" sz="1300">
                <a:solidFill>
                  <a:srgbClr val="1C1D22"/>
                </a:solidFill>
              </a:rPr>
              <a:t>истории ФСП нет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18073"/>
            <a:ext cx="5460470" cy="685800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Демо-вход на главной: «Войти как демо-кандидат» или «Войти как демо-работодатель». Вторую роль откройте в окне инкогнито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45440"/>
            <a:ext cx="5460470" cy="685800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Полный путь: регистрация по email, письмо с подтверждением приходит в почтовый ящик стенда /mail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58490"/>
            <a:ext cx="5460470" cy="685800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ФСП ID: в профиле дайте согласие на данные реестра и нажмите «Привязать ФСП ID». Логины с athlete1 по athlete4, пароль fsp-demo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69161"/>
            <a:ext cx="5460470" cy="685800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Для жюри есть экспресс-тест из 6 заданий, полный тест: 15 заданий за 25 минут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489492"/>
            <a:ext cx="5460470" cy="685800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Описание API со всеми кодами ошибок: /docs на стенде (OpenAPI)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21226"/>
            <a:ext cx="2791753" cy="3761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КАК ПРОВЕРИТЬ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23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lang="ru-RU" sz="1600" b="1">
                <a:solidFill>
                  <a:srgbClr val="520977"/>
                </a:solidFill>
              </a:rPr>
              <a:t>Тест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ru-RU" sz="1300">
                <a:solidFill>
                  <a:srgbClr val="1C1D22"/>
                </a:solidFill>
              </a:rPr>
              <a:t>Больше сигналов списывания: вставка из буфера, уход со вкладки</a:t>
            </a:r>
          </a:p>
          <a:p>
            <a:pPr>
              <a:spcAft>
                <a:spcPts val="600"/>
              </a:spcAft>
            </a:pPr>
            <a:r>
              <a:rPr lang="ru-RU" sz="1300">
                <a:solidFill>
                  <a:srgbClr val="1C1D22"/>
                </a:solidFill>
              </a:rPr>
              <a:t>Калибровка параметров заданий на ответах пилота</a:t>
            </a:r>
          </a:p>
          <a:p>
            <a:pPr>
              <a:spcAft>
                <a:spcPts val="600"/>
              </a:spcAft>
            </a:pPr>
            <a:r>
              <a:rPr lang="ru-RU" sz="1300">
                <a:solidFill>
                  <a:srgbClr val="1C1D22"/>
                </a:solidFill>
              </a:rPr>
              <a:t>Несколько категорий у одного кандидата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 lang="ru-RU" sz="1600" b="1">
                <a:solidFill>
                  <a:srgbClr val="520977"/>
                </a:solidFill>
              </a:rPr>
              <a:t>Подбор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ru-RU" sz="1300">
                <a:solidFill>
                  <a:srgbClr val="1C1D22"/>
                </a:solidFill>
              </a:rPr>
              <a:t>Экспертная разметка пар «потребность и кандидат», инструмент уже есть</a:t>
            </a:r>
          </a:p>
          <a:p>
            <a:pPr>
              <a:spcAft>
                <a:spcPts val="600"/>
              </a:spcAft>
            </a:pPr>
            <a:r>
              <a:rPr lang="ru-RU" sz="1300">
                <a:solidFill>
                  <a:srgbClr val="1C1D22"/>
                </a:solidFill>
              </a:rPr>
              <a:t>Веса скора по принятым приглашениям</a:t>
            </a:r>
          </a:p>
          <a:p>
            <a:pPr>
              <a:spcAft>
                <a:spcPts val="600"/>
              </a:spcAft>
            </a:pPr>
            <a:r>
              <a:rPr lang="ru-RU" sz="1300">
                <a:solidFill>
                  <a:srgbClr val="1C1D22"/>
                </a:solidFill>
              </a:rPr>
              <a:t>Навыки вне словаря: эмбеддинги проверили, пока путают похожие навыки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lang="ru-RU" sz="1600" b="1">
                <a:solidFill>
                  <a:srgbClr val="520977"/>
                </a:solidFill>
              </a:rPr>
              <a:t>Интеграции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ru-RU" sz="1300">
                <a:solidFill>
                  <a:srgbClr val="1C1D22"/>
                </a:solidFill>
              </a:rPr>
              <a:t>Настоящий ФСП ID и API реестра</a:t>
            </a:r>
          </a:p>
          <a:p>
            <a:pPr>
              <a:spcAft>
                <a:spcPts val="600"/>
              </a:spcAft>
            </a:pPr>
            <a:r>
              <a:rPr lang="ru-RU" sz="1300">
                <a:solidFill>
                  <a:srgbClr val="1C1D22"/>
                </a:solidFill>
              </a:rPr>
              <a:t>Вебхуки в ATS, адаптеры Хантфлоу и Talantix</a:t>
            </a:r>
          </a:p>
          <a:p>
            <a:pPr>
              <a:spcAft>
                <a:spcPts val="600"/>
              </a:spcAft>
            </a:pPr>
            <a:r>
              <a:rPr lang="ru-RU" sz="1300">
                <a:solidFill>
                  <a:srgbClr val="1C1D22"/>
                </a:solidFill>
              </a:rPr>
              <a:t>Проверка ИНН и юрлица компании</a:t>
            </a:r>
          </a:p>
          <a:p>
            <a:pPr>
              <a:spcAft>
                <a:spcPts val="600"/>
              </a:spcAft>
            </a:pPr>
            <a:r>
              <a:rPr lang="ru-RU" sz="1300">
                <a:solidFill>
                  <a:srgbClr val="1C1D22"/>
                </a:solidFill>
              </a:rPr>
              <a:t>Несовершеннолетние: согласие родителя, только стажировки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rgbClr val="520977"/>
                </a:solidFill>
              </a:rPr>
              <a:t>ДАЛЬНЕЙШЕЕ РАЗВИТИЕ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r>
              <a:rPr lang="ru-RU" sz="28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r>
              <a:rPr lang="ru-RU" sz="28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r>
              <a:rPr lang="ru-RU" sz="2800" b="1">
                <a:solidFill>
                  <a:srgbClr val="FF005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/>
              <a:t>СПАСИБО!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/>
              <a:t>app.nektarum.ru/fsp</a:t>
            </a:r>
            <a:br>
              <a:rPr lang="ru-RU"/>
            </a:br>
            <a:r>
              <a:rPr lang="ru-RU"/>
              <a:t>github.com/alotzte/fsp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2949</Words>
  <Application>Microsoft Office PowerPoint</Application>
  <PresentationFormat>Широкоэкранный</PresentationFormat>
  <Paragraphs>346</Paragraphs>
  <Slides>24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Arial</vt:lpstr>
      <vt:lpstr>Calibri</vt:lpstr>
      <vt:lpstr>Courier New</vt:lpstr>
      <vt:lpstr>Lato Light</vt:lpstr>
      <vt:lpstr>Montserrat</vt:lpstr>
      <vt:lpstr>Poppins Light</vt:lpstr>
      <vt:lpstr>Wingdings</vt:lpstr>
      <vt:lpstr>Для Академия инноваторов 16_9</vt:lpstr>
      <vt:lpstr>НЕКТАРУМ</vt:lpstr>
      <vt:lpstr>ФСП КАРЬЕРА</vt:lpstr>
      <vt:lpstr>НЕКТАРУМ</vt:lpstr>
      <vt:lpstr>О КОМАНДЕ</vt:lpstr>
      <vt:lpstr>КОРОТКО О РЕШЕНИИ</vt:lpstr>
      <vt:lpstr>ПО КРИТЕРИЯМ ТЗ</vt:lpstr>
      <vt:lpstr>СКВОЗНОЙ СЦЕНАРИЙ</vt:lpstr>
      <vt:lpstr>ВЫХОД НА КОНТАКТ</vt:lpstr>
      <vt:lpstr>ЧТО ВИДИТ КАНДИДАТ</vt:lpstr>
      <vt:lpstr>КАК РАНЖИРУЕМ</vt:lpstr>
      <vt:lpstr>ОБЪЯСНЕНИЕ И ФИЛЬТРЫ</vt:lpstr>
      <vt:lpstr>ПРОВЕРКА ПОДБОРА</vt:lpstr>
      <vt:lpstr>СЕМЕЙСТВА ЗАДАНИЙ</vt:lpstr>
      <vt:lpstr>КАК ИДЕТ ТЕСТ</vt:lpstr>
      <vt:lpstr>УТЕЧКА НЕ ПОМОГАЕТ</vt:lpstr>
      <vt:lpstr>ТОЧНОСТЬ И СТАБИЛЬНОСТЬ</vt:lpstr>
      <vt:lpstr>ПРАВИЛА ГРЕЙДА</vt:lpstr>
      <vt:lpstr>ФСП ID И ДОСТИЖЕНИЯ</vt:lpstr>
      <vt:lpstr>ЧТО ВИДИТ РАБОТОДАТЕЛЬ</vt:lpstr>
      <vt:lpstr>ДОПОЛНИТЕЛЬНЫЙ ФУНКЦИОНАЛ</vt:lpstr>
      <vt:lpstr>АРХИТЕКТУРА</vt:lpstr>
      <vt:lpstr>КАК ПРОВЕРИТЬ</vt:lpstr>
      <vt:lpstr>ДАЛЬНЕЙШЕЕ РАЗВИТИЕ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Ilya Afonichev</cp:lastModifiedBy>
  <cp:revision>97</cp:revision>
  <dcterms:created xsi:type="dcterms:W3CDTF">2023-05-15T07:36:23Z</dcterms:created>
  <dcterms:modified xsi:type="dcterms:W3CDTF">2026-10-11T11:40:28Z</dcterms:modified>
</cp:coreProperties>
</file>